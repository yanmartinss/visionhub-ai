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Documento de Requisitos Ágeis do VisionHub AI, módulo condomínios (MVP). Tópicos: visão do produto, personas, estrutura de requisitos, user stories, backlog MoSCoW, riscos e modelagem do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Público: síndicos, administradoras, porteiros. Problema: CFTV grava mas não interpreta. Solução: processamento em lote das gravações do dia (upload ou link), detecção com YOLO, regras de negócio configuráveis, eventos com horário real, alertas e resumo por LLM local (Ollama).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meta é mensurada pelo tempo que o síndico gasta revisando gravações (antes x depois) e pela precisão: eventos confirmados na triagem versus falsos positivos, num conjunto de teste do condomínio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personas ligadas aos perfis reais do sistema (RBAC): gestor (síndica), funcionário (porteiro) e admin (técnico da administradora).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Organograma em três níveis. Diagrama completo (Mermaid) no documento, seção 3. Cada épico agrupa funcionalidades, e cada funcionalidade agrupa user stories.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as 40 histórias, com critérios de aceite, estão na seção 4 do documento e como issues na milestone do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Histórias específicas de IA: detecção (US01–US14, hoje com detector simulado atrás do mesmo contrato do serviço Python), resumo com LLM local (US08), explicabilidade (US33) e métricas de desempenho (US34). Uso de dados: retenção e log de acesso (US22, US23).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Backlog em ordem de prioridade dentro de cada coluna. Cada item é uma issue na milestone do GitHub com label de MoSCoW e de épico; as já implementadas estão fechadas.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riscos: técnico/IA, legal/ético (LGPD), técnico (volume), dados (horário) e negócio/prazo (hardware e acesso às gravações). Mitigações já parcialmente implementadas: detector simulado, avisos de horário, fila com retentativa.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tabelas implementadas no Prisma + ClipAccessLog planejada (LGPD, Fatia E). ClipAccessLog também referencia User (userId). Rule e Area se ligam pelo tipo, sem FK. Request e Condominium não têm FK no MVP; na Fase 2 (multi-condomínio) Condominium passa a ser referenciado por User e Camera.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Próximas fatias do roteiro, na ordem: D, E, F e por último G (serviço Python de visão). Links de entrega: milestone da sprint e documento no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anmartinss/visionhub-ai/milestone/1" TargetMode="External"/><Relationship Id="rId2" Type="http://schemas.openxmlformats.org/officeDocument/2006/relationships/hyperlink" Target="https://github.com/yanmartinss/visionhub-ai/blob/main/docs/documento-requisitos-ageis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822960" cy="8229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89977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691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VisionHub AI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 de Requisitos Ágeis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condomínios por Visão Computacional + IA a partir das gravações que o condomínio já tem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 Martins de Sousa  ·  APS — Prof. Carlos Henrique Leitão  ·  25/09/2026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Visão do Produto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as gravações das câmeras que o condomínio já possui em eventos, alertas e resumos diários — sem trocar câmeras nem acessar o DVR em tempo real.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9595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801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Público-alvo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148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Síndicos e administradoras de condomínios residenciais; porteiros e zeladores que operam o dia a dia.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828800"/>
            <a:ext cx="502920" cy="50292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799" y="19595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801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577840" y="2148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CFTV só grava, não interpreta: achar portão aberto, carro em vaga proibida ou dejeto de pet exige assistir horas de vídeo.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2004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429000"/>
            <a:ext cx="502920" cy="50292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355975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3401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sistema faz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3749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as gravações do dia em lote, detecta objetos (YOLO/OpenCV), aplica regras por câmera/área e gera eventos, alertas e resumo por IA local.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32004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429000"/>
            <a:ext cx="502920" cy="50292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799" y="355975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77840" y="3401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 esperado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577840" y="3749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tempo revisando vídeo, reação mais rápida, histórico confiável para cobrar responsáveis e retenção mínima de imagens (LGPD).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SMART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15/12/2026</a:t>
            </a:r>
            <a:pPr indent="0" marL="0">
              <a:buNone/>
            </a:pPr>
            <a:r>
              <a:rPr lang="en-US" sz="1500" dirty="0">
                <a:solidFill>
                  <a:srgbClr val="DDE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entregar o MVP para um condomínio piloto, processando 1 dia de gravação de ao menos 1 câmera e detectando os 4 eventos-alvo — portão aberto, carro em local proibido, criança correndo no estacionamento e dejeto de animal — e </a:t>
            </a:r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em ≥ 80% o tempo diário de revisão</a:t>
            </a:r>
            <a:pPr indent="0" marL="0">
              <a:buNone/>
            </a:pPr>
            <a:r>
              <a:rPr lang="en-US" sz="1500" dirty="0">
                <a:solidFill>
                  <a:srgbClr val="DDE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 ~2 h para ≤ 20 min) com </a:t>
            </a:r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≥ 70%</a:t>
            </a:r>
            <a:pPr indent="0" marL="0">
              <a:buNone/>
            </a:pPr>
            <a:r>
              <a:rPr lang="en-US" sz="1500" dirty="0">
                <a:solidFill>
                  <a:srgbClr val="DDE5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eventos gerados.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9144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−80%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178040" y="9144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revisão das gravações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737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≥70%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178040" y="17373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dos eventos gerados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5603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25603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evento-alvo no MVP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1A2E3E"/>
          </a:solidFill>
          <a:ln w="12700">
            <a:solidFill>
              <a:srgbClr val="1A2E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363931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0690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condomínios, 4 eventos definidos, entrada por arquivo.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25980" y="35204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1A2E3E"/>
          </a:solidFill>
          <a:ln w="12700">
            <a:solidFill>
              <a:srgbClr val="1A2E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6314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2692908" y="363931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Mensurável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263140" y="40690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 no tempo de revisão; precisão ≥ 70%.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94760" y="35204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1A2E3E"/>
          </a:solidFill>
          <a:ln w="12700">
            <a:solidFill>
              <a:srgbClr val="1A2E3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3192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4361688" y="363931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Alcançável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40690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open source já em uso; detector simulado antes do YOLO.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63540" y="35204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1A2E3E"/>
          </a:solidFill>
          <a:ln w="12700">
            <a:solidFill>
              <a:srgbClr val="1A2E3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0070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6030468" y="363931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600700" y="40690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real de síndicos; usa as câmeras existentes.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32320" y="35204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1A2E3E"/>
          </a:solidFill>
          <a:ln w="12700">
            <a:solidFill>
              <a:srgbClr val="1A2E3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6948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699248" y="363931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269480" y="40690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até 15/12/2026, dividida em sprints.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Personas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3429000"/>
          </a:xfrm>
          <a:prstGeom prst="roundRect">
            <a:avLst>
              <a:gd name="adj" fmla="val 28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88720"/>
            <a:ext cx="640080" cy="64008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3551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Carla Mendes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Síndica · perfil gestor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5176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o que aconteceu de irregular em cada dia sem assistir às gravações, com provas para cobrar moradores.</a:t>
            </a:r>
            <a:endParaRPr lang="en-US" sz="1050" dirty="0"/>
          </a:p>
          <a:p>
            <a:pPr indent="0" marL="0">
              <a:buNone/>
            </a:pPr>
            <a:r>
              <a:rPr lang="en-US" sz="5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B8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/ dor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reclamações (portão aberto, carro na vaga de visitante) e não tem tempo nem ferramenta para revisar o DVR.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68980" y="1005840"/>
            <a:ext cx="2606040" cy="3429000"/>
          </a:xfrm>
          <a:prstGeom prst="roundRect">
            <a:avLst>
              <a:gd name="adj" fmla="val 28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97580" y="1188720"/>
            <a:ext cx="640080" cy="64008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001" y="13551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9758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Jorge Almeida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9758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Porteiro noturno · perfil funcionário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3497580" y="265176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as ocorrências pendentes, agir sobre elas e marcá-las como em andamento ou resolvidas.</a:t>
            </a:r>
            <a:endParaRPr lang="en-US" sz="1050" dirty="0"/>
          </a:p>
          <a:p>
            <a:pPr indent="0" marL="0">
              <a:buNone/>
            </a:pPr>
            <a:r>
              <a:rPr lang="en-US" sz="5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B8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/ dor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Vigia vários monitores ao mesmo tempo; eventos longos passam despercebidos até alguém reclamar.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80760" y="1005840"/>
            <a:ext cx="2606040" cy="3429000"/>
          </a:xfrm>
          <a:prstGeom prst="roundRect">
            <a:avLst>
              <a:gd name="adj" fmla="val 280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09360" y="1188720"/>
            <a:ext cx="640080" cy="64008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781" y="135514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Rafael Costa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da administradora · perfil admin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265176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câmeras, usuários e regras, aprovar acessos e tratar os vídeos conforme a LGPD.</a:t>
            </a:r>
            <a:endParaRPr lang="en-US" sz="1050" dirty="0"/>
          </a:p>
          <a:p>
            <a:pPr indent="0" marL="0">
              <a:buNone/>
            </a:pPr>
            <a:r>
              <a:rPr lang="en-US" sz="5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B8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/ dor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condomínio é diferente, e guardar vídeo de moradores sem prazo gera risco legal e custo.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Estrutura de Requisitos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291840" cy="411480"/>
          </a:xfrm>
          <a:prstGeom prst="roundRect">
            <a:avLst>
              <a:gd name="adj" fmla="val 44444"/>
            </a:avLst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VisionHub AI · Módulo Condomínios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914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</a:t>
            </a:r>
            <a:pPr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0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pPr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05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pPr indent="0" marL="0">
              <a:buNone/>
            </a:pPr>
            <a:r>
              <a:rPr lang="en-US" sz="10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Fase 2 (fora do MVP): US24, US25, US38–US40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2763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Detecção de eventos com IA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com duração · Eventos por área · Fusão entre segmentos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US01 · 02 · 03 · 04 · 11 · 12 · 13 · 14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5544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2763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Envio e processamento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· Lote do dia · Robustez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US15 · 16 · 17 · 18 · 19 · 36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62763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Eventos, dashboard e histórico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· Dashboard · Histórico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US05 · 06 · 20 · 32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70662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· Alertas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no sistema · Notificação por e-mail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US07 · 37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2633472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270662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· IA explicável e resumo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dia · Explicabilidade · Métricas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US08 · 33 · 34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2633472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270662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 · Configuração do monitoramento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 · Regras e áreas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US09 · 10 · 30 · 35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78561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 · Armazenamento e LGPD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· Retenção e acesso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US21 · 22 · 23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46120" y="3712464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83280" y="378561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 · Acesso e usuários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· Solicitação de acesso · Usuários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US26 · 27 · 28 · 29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35040" y="3712464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72200" y="378561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E9 · Prototipação e UX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de telas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US31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User Stories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histórias no formato “Como [papel], quero [funcionalidade] para [benefício]” — exemplos das categorias exigidas: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6276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5087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AUTENTICAÇÃO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709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US26 — Login do usuário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0756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síndica, quero acessar o sistema com e-mail e senha para ver as informações do meu condomínio de acordo com meu perfil. (+ US27 solicitar acesso, US28 recuperar senha)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1508760"/>
            <a:ext cx="457200" cy="45720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40680" y="15087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PROTOTIPAÇÃO DE TELAS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5440680" y="1709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US31 — Protótipo de telas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20756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síndica, quero navegar por um protótipo das telas (login, dashboard, gravações, regras, histórico) para validar o fluxo antes da implementação.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0632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36499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3246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234440" y="3447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US30 — Gerenciar câmeras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381304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administrador, quero cadastrar, listar, editar e desativar câmeras para definir o que será monitorado. (+ US29 usuários, US09 regras, US10 áreas)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663440" y="30632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846320" y="3246120"/>
            <a:ext cx="457200" cy="457200"/>
          </a:xfrm>
          <a:prstGeom prst="ellipse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36499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440680" y="3246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5440680" y="3447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US15 — Enviar gravação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4846320" y="381304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síndica, quero enviar a gravação do dia por upload ou link para que o sistema a analise sem acesso direto às câmeras. (+ US17 lote, US32 triagem)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02920"/>
            <a:ext cx="731520" cy="7315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693115"/>
            <a:ext cx="351130" cy="3511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417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Stories de IA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3317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 (YOLO + OpenCV) detecta os objetos; regras interpretam; um LLM local (Ollama) resume o dia.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imagem sai do servidor do condomínio.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29000" y="548640"/>
            <a:ext cx="502920" cy="502920"/>
          </a:xfrm>
          <a:prstGeom prst="ellipse">
            <a:avLst/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59" y="679399"/>
            <a:ext cx="241402" cy="2414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1480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US01 · Detecção de portão aberto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114800" y="8046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síndica, quero que o sistema detecte portões abertos além do tempo-limite para não depender de revisar gravações.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429000" y="1627632"/>
            <a:ext cx="502920" cy="502920"/>
          </a:xfrm>
          <a:prstGeom prst="ellipse">
            <a:avLst/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759" y="1758391"/>
            <a:ext cx="241402" cy="2414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114800" y="1536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US08 · Resumo do dia com IA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114800" y="188366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síndica, quero um resumo do dia em linguagem natural gerado pelo Ollama a partir dos eventos, sem inventar ocorrências.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429000" y="2706624"/>
            <a:ext cx="502920" cy="502920"/>
          </a:xfrm>
          <a:prstGeom prst="ellipse">
            <a:avLst/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759" y="2837383"/>
            <a:ext cx="241402" cy="2414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114800" y="26151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US33 · Explicabilidade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4114800" y="296265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síndica, quero ver por que cada evento foi gerado (objeto, área, regra, duração, confiança, thumbnail) para confiar no alerta.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429000" y="3785616"/>
            <a:ext cx="502920" cy="502920"/>
          </a:xfrm>
          <a:prstGeom prst="ellipse">
            <a:avLst/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759" y="3916375"/>
            <a:ext cx="241402" cy="2414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114800" y="36941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US34 · Métricas da IA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4114800" y="404164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administrador, quero a precisão por tipo de evento (confirmados × falsos positivos) para ajustar regras e limites.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Product Backlog Prioritário (MoSCoW)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B83A3A"/>
          </a:solidFill>
          <a:ln w="12700">
            <a:solidFill>
              <a:srgbClr val="B83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914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essenciais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63040"/>
            <a:ext cx="1920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US26 Login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US29 Usuários (CRUD)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US27 Solicitar acesso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US31 Protótipo de telas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US30 Câmeras (CRUD)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US15 Upload ou link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US16 Câmera, data e horário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US17 Lote do dia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US09 Regras por câmera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US10 Áreas na imagem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US01 Portão aberto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 Carro em local proibido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 Criança correndo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US13 Dejeto de animal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US14 Evento entre arquivos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US07 Alertas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US32 Triagem de eventos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US05 Dashboard do dia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542032" y="91440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914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importantes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87752" y="1463040"/>
            <a:ext cx="1920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US06 Histórico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US18 Reprocessar segmento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US19 Sem duplicação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US36 Avisos de horário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US28 Recuperar senha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US35 Dados do condomínio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US03 Área restrita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US02 Permanência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US04 Objeto abandonado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 Timeline com clipe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US21 Só clipes comprimidos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US22 Retenção de clipes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US08 Resumo com IA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US33 Explicabilidade da IA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26864" y="91440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36592" y="914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desejáveis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72584" y="1463040"/>
            <a:ext cx="1920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US23 Log de acesso a clipes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US34 Métricas da IA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US37 Notificação por e-mail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11696" y="91440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7F8C96"/>
          </a:solidFill>
          <a:ln w="12700">
            <a:solidFill>
              <a:srgbClr val="7F8C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21424" y="914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fora do escopo inicial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57416" y="1463040"/>
            <a:ext cx="1920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US24 Câmeras ao vivo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US25 Alertas em tempo real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US38 App mobile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US39 Multi-condomínio</a:t>
            </a:r>
            <a:endParaRPr lang="en-US" sz="9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US40 Catracas e fechaduras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26864" y="25603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64024" y="26060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/ 40</a:t>
            </a:r>
            <a:endParaRPr lang="en-US" sz="2600" dirty="0"/>
          </a:p>
          <a:p>
            <a:pPr indent="0" marL="0">
              <a:buNone/>
            </a:pPr>
            <a:r>
              <a:rPr lang="en-US" sz="9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já implementadas (Etapas 1–3 e Fatias A–C)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711696" y="25603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21424" y="26060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 entra na Fase 2 como novo adaptador de fonte de vídeo, sem mudar detecção, regras nem banco.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Análise de Riscos e Desafios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22960"/>
                <a:gridCol w="4480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 precisão da IA em câmeras noturnas ou de baixa resolução (falsos positivos, eventos perdidos)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3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Confiança e tempo-limite configuráveis; triagem para medir precisão; confiança e thumbnail visíveis para revisão humana; validar com detector simulado e trecho real curto.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Vazamento ou uso indevido de imagens de moradores (LGPD), inclusive de crianças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3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Guardar só clipes curtos e thumbnails; apagar original e clipes após X dias; acesso por perfil e log de visualização; IA 100% local.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de vídeo (10–40 GB por câmera/dia) estourar disco, memória ou tempo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Streaming; 1 job por segmento na fila (BullMQ) com retentativa; ~1 frame a cada 1–2 s; limite de tamanho; descarte do original.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Horário real errado dos eventos (relógio do DVR, arquivo sem horário)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Horário informado no envio, com sugestão pelo nome do arquivo; comparação com o metadado (ffprobe); avisos de lacuna e sobreposição.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insuficiente para YOLO + Ollama; acesso às gravações depende de terceiros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8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Arquitetura por arquivo (sem acesso à câmera); modelos leves (YOLOv8n, LLM quantizado); detector simulado garante o fluxo; demo com trecho curto.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Modelagem do Banco (PostgreSQL)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ligações são 1:N, exceto RecordingDay–DailySummary (1:1)  ·  tracejado = planejada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828800" cy="841248"/>
          </a:xfrm>
          <a:prstGeom prst="rect">
            <a:avLst/>
          </a:prstGeom>
          <a:solidFill>
            <a:srgbClr val="EEF2F5"/>
          </a:solidFill>
          <a:ln w="12700">
            <a:solidFill>
              <a:srgbClr val="C9D3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828800" cy="237744"/>
          </a:xfrm>
          <a:prstGeom prst="rect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" y="109728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38912" y="1371600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role · active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passwordHash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828800" cy="841248"/>
          </a:xfrm>
          <a:prstGeom prst="rect">
            <a:avLst/>
          </a:prstGeom>
          <a:solidFill>
            <a:srgbClr val="EEF2F5"/>
          </a:solidFill>
          <a:ln w="12700">
            <a:solidFill>
              <a:srgbClr val="C9D3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097280"/>
            <a:ext cx="1828800" cy="237744"/>
          </a:xfrm>
          <a:prstGeom prst="rect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42032" y="109728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RecordingDay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542032" y="1371600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cameraId FK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createdBy FK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· status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1828800" cy="841248"/>
          </a:xfrm>
          <a:prstGeom prst="rect">
            <a:avLst/>
          </a:prstGeom>
          <a:solidFill>
            <a:srgbClr val="EEF2F5"/>
          </a:solidFill>
          <a:ln w="12700">
            <a:solidFill>
              <a:srgbClr val="C9D3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097280"/>
            <a:ext cx="1828800" cy="237744"/>
          </a:xfrm>
          <a:prstGeom prst="rect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45152" y="109728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1371600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location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referenceImagePath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75120" y="1097280"/>
            <a:ext cx="1828800" cy="841248"/>
          </a:xfrm>
          <a:prstGeom prst="rect">
            <a:avLst/>
          </a:prstGeom>
          <a:solidFill>
            <a:srgbClr val="EEF2F5"/>
          </a:solidFill>
          <a:ln w="12700">
            <a:solidFill>
              <a:srgbClr val="C9D3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1097280"/>
            <a:ext cx="1828800" cy="237744"/>
          </a:xfrm>
          <a:prstGeom prst="rect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48272" y="109728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748272" y="1371600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cameraId FK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(JSON)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331720"/>
            <a:ext cx="1828800" cy="841248"/>
          </a:xfrm>
          <a:prstGeom prst="rect">
            <a:avLst/>
          </a:prstGeom>
          <a:solidFill>
            <a:srgbClr val="EEF2F5"/>
          </a:solidFill>
          <a:ln w="12700">
            <a:solidFill>
              <a:srgbClr val="C9D3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331720"/>
            <a:ext cx="1828800" cy="237744"/>
          </a:xfrm>
          <a:prstGeom prst="rect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8912" y="233172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DailySummary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" y="2606040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recordingDayId FK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generatedText (IA)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468880" y="2331720"/>
            <a:ext cx="1828800" cy="973836"/>
          </a:xfrm>
          <a:prstGeom prst="rect">
            <a:avLst/>
          </a:prstGeom>
          <a:solidFill>
            <a:srgbClr val="EEF2F5"/>
          </a:solidFill>
          <a:ln w="12700">
            <a:solidFill>
              <a:srgbClr val="C9D3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2331720"/>
            <a:ext cx="1828800" cy="237744"/>
          </a:xfrm>
          <a:prstGeom prst="rect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42032" y="233172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542032" y="2606040"/>
            <a:ext cx="168249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recordingDayId FK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sourceType · sourceRef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fileHash · startedAt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attempts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0" y="2331720"/>
            <a:ext cx="1828800" cy="1106424"/>
          </a:xfrm>
          <a:prstGeom prst="rect">
            <a:avLst/>
          </a:prstGeom>
          <a:solidFill>
            <a:srgbClr val="EEF2F5"/>
          </a:solidFill>
          <a:ln w="12700">
            <a:solidFill>
              <a:srgbClr val="C9D3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2331720"/>
            <a:ext cx="1828800" cy="237744"/>
          </a:xfrm>
          <a:prstGeom prst="rect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45152" y="233172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645152" y="2606040"/>
            <a:ext cx="16824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cameraId FK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segmentId FK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· status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occurredAt · confidence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thumbnailPath · clipPath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75120" y="2331720"/>
            <a:ext cx="1828800" cy="841248"/>
          </a:xfrm>
          <a:prstGeom prst="rect">
            <a:avLst/>
          </a:prstGeom>
          <a:solidFill>
            <a:srgbClr val="EEF2F5"/>
          </a:solidFill>
          <a:ln w="12700">
            <a:solidFill>
              <a:srgbClr val="C9D3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0" y="2331720"/>
            <a:ext cx="1828800" cy="237744"/>
          </a:xfrm>
          <a:prstGeom prst="rect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48272" y="233172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748272" y="2606040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cameraId FK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eventType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timeLimitSeconds · active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468880" y="3749040"/>
            <a:ext cx="1828800" cy="841248"/>
          </a:xfrm>
          <a:prstGeom prst="rect">
            <a:avLst/>
          </a:prstGeom>
          <a:solidFill>
            <a:srgbClr val="EEF2F5"/>
          </a:solidFill>
          <a:ln w="12700">
            <a:solidFill>
              <a:srgbClr val="C9D3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68880" y="3749040"/>
            <a:ext cx="1828800" cy="237744"/>
          </a:xfrm>
          <a:prstGeom prst="rect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542032" y="374904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DetectionInterval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2542032" y="4023360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segmentId FK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eventType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startSec · endSec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0" y="3749040"/>
            <a:ext cx="1828800" cy="708660"/>
          </a:xfrm>
          <a:prstGeom prst="rect">
            <a:avLst/>
          </a:prstGeom>
          <a:solidFill>
            <a:srgbClr val="EEF2F5"/>
          </a:solidFill>
          <a:ln w="12700">
            <a:solidFill>
              <a:srgbClr val="C9D3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0" y="3749040"/>
            <a:ext cx="1828800" cy="237744"/>
          </a:xfrm>
          <a:prstGeom prst="rect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645152" y="374904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645152" y="4023360"/>
            <a:ext cx="168249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 FK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sentAt · viewedAt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675120" y="3749040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86E12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6675120" y="3749040"/>
            <a:ext cx="1828800" cy="23774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748272" y="374904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ClipAccessLog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748272" y="4023360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PK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eventId FK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B86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FK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accessedAt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" y="3749040"/>
            <a:ext cx="1828800" cy="443484"/>
          </a:xfrm>
          <a:prstGeom prst="rect">
            <a:avLst/>
          </a:prstGeom>
          <a:solidFill>
            <a:srgbClr val="EEF2F5"/>
          </a:solidFill>
          <a:ln w="12700">
            <a:solidFill>
              <a:srgbClr val="C9D3D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3749040"/>
            <a:ext cx="1828800" cy="237744"/>
          </a:xfrm>
          <a:prstGeom prst="rect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38912" y="374904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438912" y="4023360"/>
            <a:ext cx="168249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de acesso (sem FK)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" y="4297680"/>
            <a:ext cx="1828800" cy="443484"/>
          </a:xfrm>
          <a:prstGeom prst="rect">
            <a:avLst/>
          </a:prstGeom>
          <a:solidFill>
            <a:srgbClr val="EEF2F5"/>
          </a:solidFill>
          <a:ln w="12700">
            <a:solidFill>
              <a:srgbClr val="C9D3D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" y="4297680"/>
            <a:ext cx="1828800" cy="237744"/>
          </a:xfrm>
          <a:prstGeom prst="rect">
            <a:avLst/>
          </a:prstGeom>
          <a:solidFill>
            <a:srgbClr val="0E1B26"/>
          </a:solidFill>
          <a:ln w="12700">
            <a:solidFill>
              <a:srgbClr val="0E1B2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38912" y="429768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Condominium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438912" y="4572000"/>
            <a:ext cx="168249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condomínio (sem FK)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194560" y="1508760"/>
            <a:ext cx="274320" cy="0"/>
          </a:xfrm>
          <a:prstGeom prst="line">
            <a:avLst/>
          </a:prstGeom>
          <a:noFill/>
          <a:ln w="15875">
            <a:solidFill>
              <a:srgbClr val="5E6E7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97680" y="1508760"/>
            <a:ext cx="274320" cy="0"/>
          </a:xfrm>
          <a:prstGeom prst="line">
            <a:avLst/>
          </a:prstGeom>
          <a:noFill/>
          <a:ln w="15875">
            <a:solidFill>
              <a:srgbClr val="5E6E7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00800" y="1508760"/>
            <a:ext cx="274320" cy="0"/>
          </a:xfrm>
          <a:prstGeom prst="line">
            <a:avLst/>
          </a:prstGeom>
          <a:noFill/>
          <a:ln w="15875">
            <a:solidFill>
              <a:srgbClr val="5E6E7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86400" y="1938528"/>
            <a:ext cx="0" cy="393192"/>
          </a:xfrm>
          <a:prstGeom prst="line">
            <a:avLst/>
          </a:prstGeom>
          <a:noFill/>
          <a:ln w="15875">
            <a:solidFill>
              <a:srgbClr val="5E6E7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383280" y="1938528"/>
            <a:ext cx="0" cy="393192"/>
          </a:xfrm>
          <a:prstGeom prst="line">
            <a:avLst/>
          </a:prstGeom>
          <a:noFill/>
          <a:ln w="15875">
            <a:solidFill>
              <a:srgbClr val="5E6E7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97680" y="2743200"/>
            <a:ext cx="274320" cy="0"/>
          </a:xfrm>
          <a:prstGeom prst="line">
            <a:avLst/>
          </a:prstGeom>
          <a:noFill/>
          <a:ln w="15875">
            <a:solidFill>
              <a:srgbClr val="5E6E7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83280" y="3305556"/>
            <a:ext cx="0" cy="443484"/>
          </a:xfrm>
          <a:prstGeom prst="line">
            <a:avLst/>
          </a:prstGeom>
          <a:noFill/>
          <a:ln w="15875">
            <a:solidFill>
              <a:srgbClr val="5E6E7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86400" y="3438144"/>
            <a:ext cx="0" cy="310896"/>
          </a:xfrm>
          <a:prstGeom prst="line">
            <a:avLst/>
          </a:prstGeom>
          <a:noFill/>
          <a:ln w="15875">
            <a:solidFill>
              <a:srgbClr val="5E6E7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00800" y="1737360"/>
            <a:ext cx="137160" cy="0"/>
          </a:xfrm>
          <a:prstGeom prst="line">
            <a:avLst/>
          </a:prstGeom>
          <a:noFill/>
          <a:ln w="15875">
            <a:solidFill>
              <a:srgbClr val="5E6E7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37960" y="1737360"/>
            <a:ext cx="0" cy="1005840"/>
          </a:xfrm>
          <a:prstGeom prst="line">
            <a:avLst/>
          </a:prstGeom>
          <a:noFill/>
          <a:ln w="15875">
            <a:solidFill>
              <a:srgbClr val="5E6E7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37960" y="2743200"/>
            <a:ext cx="137160" cy="0"/>
          </a:xfrm>
          <a:prstGeom prst="line">
            <a:avLst/>
          </a:prstGeom>
          <a:noFill/>
          <a:ln w="15875">
            <a:solidFill>
              <a:srgbClr val="5E6E7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31720" y="1737360"/>
            <a:ext cx="137160" cy="0"/>
          </a:xfrm>
          <a:prstGeom prst="line">
            <a:avLst/>
          </a:prstGeom>
          <a:noFill/>
          <a:ln w="15875">
            <a:solidFill>
              <a:srgbClr val="5E6E7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31720" y="1737360"/>
            <a:ext cx="0" cy="1005840"/>
          </a:xfrm>
          <a:prstGeom prst="line">
            <a:avLst/>
          </a:prstGeom>
          <a:noFill/>
          <a:ln w="15875">
            <a:solidFill>
              <a:srgbClr val="5E6E7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94560" y="2743200"/>
            <a:ext cx="137160" cy="0"/>
          </a:xfrm>
          <a:prstGeom prst="line">
            <a:avLst/>
          </a:prstGeom>
          <a:noFill/>
          <a:ln w="15875">
            <a:solidFill>
              <a:srgbClr val="5E6E7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0" y="3154680"/>
            <a:ext cx="137160" cy="0"/>
          </a:xfrm>
          <a:prstGeom prst="line">
            <a:avLst/>
          </a:prstGeom>
          <a:noFill/>
          <a:ln w="15875">
            <a:solidFill>
              <a:srgbClr val="B86E12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6537960" y="3154680"/>
            <a:ext cx="0" cy="1005840"/>
          </a:xfrm>
          <a:prstGeom prst="line">
            <a:avLst/>
          </a:prstGeom>
          <a:noFill/>
          <a:ln w="15875">
            <a:solidFill>
              <a:srgbClr val="B86E12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6537960" y="4160520"/>
            <a:ext cx="137160" cy="0"/>
          </a:xfrm>
          <a:prstGeom prst="line">
            <a:avLst/>
          </a:prstGeom>
          <a:noFill/>
          <a:ln w="15875">
            <a:solidFill>
              <a:srgbClr val="B86E12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960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Fatia D · Dashboard e histórico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US05, US06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28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Fatia E · Clipes, retenção e LGPD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US20–US23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54864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97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Fatia F · Resumo do dia com Ollama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US08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4864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566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Fatia G · Serviço Python (YOLO)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US33, US34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3840480" cy="2194560"/>
          </a:xfrm>
          <a:prstGeom prst="roundRect">
            <a:avLst>
              <a:gd name="adj" fmla="val 3333"/>
            </a:avLst>
          </a:prstGeom>
          <a:solidFill>
            <a:srgbClr val="1A2E3E"/>
          </a:solidFill>
          <a:ln w="12700">
            <a:solidFill>
              <a:srgbClr val="1A2E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118872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da Sprint (GitHub)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github.com/yanmartinss/visionhub-ai/milestone/1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Requisitos Ágeis</a:t>
            </a:r>
            <a:endParaRPr lang="en-US" sz="1200" dirty="0"/>
          </a:p>
          <a:p>
            <a:pPr indent="0" marL="0"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docs/documento-requisitos-ageis.md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5D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issues (uma por user story) com labels MoSCoW e de épico — 25 concluídas.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VisionHub AI — Documento de Requisitos Ágeis</dc:title>
  <dc:subject>PptxGenJS Presentation</dc:subject>
  <dc:creator>Yan Martins de Sousa</dc:creator>
  <cp:lastModifiedBy>Yan Martins de Sousa</cp:lastModifiedBy>
  <cp:revision>1</cp:revision>
  <dcterms:created xsi:type="dcterms:W3CDTF">2026-09-25T01:11:09Z</dcterms:created>
  <dcterms:modified xsi:type="dcterms:W3CDTF">2026-09-25T01:11:09Z</dcterms:modified>
</cp:coreProperties>
</file>